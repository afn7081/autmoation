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772400"/>
  <p:notesSz cx="6858000" cy="9144000"/>
  <p:embeddedFontLst>
    <p:embeddedFont>
      <p:font typeface="Great Vibes" panose="020B0604020202020204" charset="0"/>
      <p:regular r:id="rId3"/>
    </p:embeddedFont>
    <p:embeddedFont>
      <p:font typeface="Montserrat" panose="00000500000000000000" pitchFamily="2" charset="0"/>
      <p:regular r:id="rId4"/>
    </p:embeddedFont>
    <p:embeddedFont>
      <p:font typeface="Montserrat Bold" panose="00000800000000000000" charset="0"/>
      <p:regular r:id="rId5"/>
    </p:embeddedFont>
    <p:embeddedFont>
      <p:font typeface="Signature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18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10620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10692000" y="0"/>
                </a:moveTo>
                <a:lnTo>
                  <a:pt x="0" y="0"/>
                </a:lnTo>
                <a:lnTo>
                  <a:pt x="0" y="7560000"/>
                </a:lnTo>
                <a:lnTo>
                  <a:pt x="10692000" y="7560000"/>
                </a:lnTo>
                <a:lnTo>
                  <a:pt x="10692000" y="0"/>
                </a:lnTo>
                <a:close/>
              </a:path>
            </a:pathLst>
          </a:custGeom>
          <a:blipFill>
            <a:blip r:embed="rId2"/>
            <a:stretch>
              <a:fillRect l="-4303" t="-1470" r="-4303" b="-147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14793" y="-8593"/>
            <a:ext cx="10921586" cy="7789586"/>
            <a:chOff x="0" y="0"/>
            <a:chExt cx="3914050" cy="27916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14050" cy="2791612"/>
            </a:xfrm>
            <a:custGeom>
              <a:avLst/>
              <a:gdLst/>
              <a:ahLst/>
              <a:cxnLst/>
              <a:rect l="l" t="t" r="r" b="b"/>
              <a:pathLst>
                <a:path w="3914050" h="2791612">
                  <a:moveTo>
                    <a:pt x="0" y="0"/>
                  </a:moveTo>
                  <a:lnTo>
                    <a:pt x="3914050" y="0"/>
                  </a:lnTo>
                  <a:lnTo>
                    <a:pt x="3914050" y="2791612"/>
                  </a:lnTo>
                  <a:lnTo>
                    <a:pt x="0" y="2791612"/>
                  </a:lnTo>
                  <a:close/>
                </a:path>
              </a:pathLst>
            </a:custGeom>
            <a:solidFill>
              <a:srgbClr val="00005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914050" cy="282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0670" y="290382"/>
            <a:ext cx="10410659" cy="7191636"/>
            <a:chOff x="0" y="0"/>
            <a:chExt cx="3730945" cy="2577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30945" cy="2577320"/>
            </a:xfrm>
            <a:custGeom>
              <a:avLst/>
              <a:gdLst/>
              <a:ahLst/>
              <a:cxnLst/>
              <a:rect l="l" t="t" r="r" b="b"/>
              <a:pathLst>
                <a:path w="3730945" h="2577320">
                  <a:moveTo>
                    <a:pt x="0" y="0"/>
                  </a:moveTo>
                  <a:lnTo>
                    <a:pt x="3730945" y="0"/>
                  </a:lnTo>
                  <a:lnTo>
                    <a:pt x="3730945" y="2577320"/>
                  </a:lnTo>
                  <a:lnTo>
                    <a:pt x="0" y="2577320"/>
                  </a:lnTo>
                  <a:close/>
                </a:path>
              </a:pathLst>
            </a:custGeom>
            <a:solidFill>
              <a:srgbClr val="EFEDE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730945" cy="2605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40670" y="290382"/>
            <a:ext cx="10410659" cy="6977105"/>
          </a:xfrm>
          <a:custGeom>
            <a:avLst/>
            <a:gdLst/>
            <a:ahLst/>
            <a:cxnLst/>
            <a:rect l="l" t="t" r="r" b="b"/>
            <a:pathLst>
              <a:path w="10410659" h="6977105">
                <a:moveTo>
                  <a:pt x="10410660" y="0"/>
                </a:moveTo>
                <a:lnTo>
                  <a:pt x="0" y="0"/>
                </a:lnTo>
                <a:lnTo>
                  <a:pt x="0" y="6977105"/>
                </a:lnTo>
                <a:lnTo>
                  <a:pt x="10410660" y="6977105"/>
                </a:lnTo>
                <a:lnTo>
                  <a:pt x="10410660" y="0"/>
                </a:lnTo>
                <a:close/>
              </a:path>
            </a:pathLst>
          </a:custGeom>
          <a:blipFill>
            <a:blip r:embed="rId3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7271" y="5587227"/>
            <a:ext cx="4766413" cy="2275962"/>
          </a:xfrm>
          <a:custGeom>
            <a:avLst/>
            <a:gdLst/>
            <a:ahLst/>
            <a:cxnLst/>
            <a:rect l="l" t="t" r="r" b="b"/>
            <a:pathLst>
              <a:path w="4766413" h="2275962">
                <a:moveTo>
                  <a:pt x="0" y="0"/>
                </a:moveTo>
                <a:lnTo>
                  <a:pt x="4766412" y="0"/>
                </a:lnTo>
                <a:lnTo>
                  <a:pt x="4766412" y="2275962"/>
                </a:lnTo>
                <a:lnTo>
                  <a:pt x="0" y="2275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10800000">
            <a:off x="6188245" y="-8593"/>
            <a:ext cx="4618548" cy="2205357"/>
          </a:xfrm>
          <a:custGeom>
            <a:avLst/>
            <a:gdLst/>
            <a:ahLst/>
            <a:cxnLst/>
            <a:rect l="l" t="t" r="r" b="b"/>
            <a:pathLst>
              <a:path w="4618548" h="2205357">
                <a:moveTo>
                  <a:pt x="0" y="0"/>
                </a:moveTo>
                <a:lnTo>
                  <a:pt x="4618548" y="0"/>
                </a:lnTo>
                <a:lnTo>
                  <a:pt x="4618548" y="2205357"/>
                </a:lnTo>
                <a:lnTo>
                  <a:pt x="0" y="2205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2634590" y="4222856"/>
            <a:ext cx="5422821" cy="0"/>
          </a:xfrm>
          <a:prstGeom prst="line">
            <a:avLst/>
          </a:prstGeom>
          <a:ln w="19050" cap="flat">
            <a:solidFill>
              <a:srgbClr val="012A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552527" y="6844008"/>
            <a:ext cx="1354984" cy="0"/>
          </a:xfrm>
          <a:prstGeom prst="line">
            <a:avLst/>
          </a:prstGeom>
          <a:ln w="9525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972011" y="340694"/>
            <a:ext cx="2747978" cy="776280"/>
          </a:xfrm>
          <a:custGeom>
            <a:avLst/>
            <a:gdLst/>
            <a:ahLst/>
            <a:cxnLst/>
            <a:rect l="l" t="t" r="r" b="b"/>
            <a:pathLst>
              <a:path w="2747978" h="776280">
                <a:moveTo>
                  <a:pt x="0" y="0"/>
                </a:moveTo>
                <a:lnTo>
                  <a:pt x="2747978" y="0"/>
                </a:lnTo>
                <a:lnTo>
                  <a:pt x="2747978" y="776280"/>
                </a:lnTo>
                <a:lnTo>
                  <a:pt x="0" y="776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1067" b="-1329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681478" y="1815841"/>
            <a:ext cx="7298126" cy="55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3"/>
              </a:lnSpc>
            </a:pPr>
            <a:r>
              <a:rPr lang="en-US" sz="3202" b="1" spc="80">
                <a:solidFill>
                  <a:srgbClr val="00005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CERTIFICATE OF RECOGNITION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0368" y="1133853"/>
            <a:ext cx="9371265" cy="39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spc="60">
                <a:solidFill>
                  <a:srgbClr val="00005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WOMEN FOUNDATION &amp; BAND OF BROTHERS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1981" y="2263149"/>
            <a:ext cx="776803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10" b="1" spc="72">
                <a:solidFill>
                  <a:srgbClr val="A274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FOUNDING MEMBER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92044" y="5696245"/>
            <a:ext cx="5307912" cy="306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6"/>
              </a:lnSpc>
            </a:pPr>
            <a:r>
              <a:rPr lang="en-US" sz="1747" b="1" spc="43">
                <a:solidFill>
                  <a:srgbClr val="A274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STREETS → HOUSING → COMMUNITY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6349" y="2954078"/>
            <a:ext cx="77680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12850"/>
                </a:solidFill>
                <a:latin typeface="Montserrat"/>
                <a:ea typeface="Montserrat"/>
                <a:cs typeface="Montserrat"/>
                <a:sym typeface="Montserrat"/>
              </a:rPr>
              <a:t>THIS CERTIFICATE IS PROUDLY PRESENTED 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2396" y="4482193"/>
            <a:ext cx="7267208" cy="113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8"/>
              </a:lnSpc>
            </a:pPr>
            <a:r>
              <a:rPr lang="en-US" sz="1327">
                <a:solidFill>
                  <a:srgbClr val="49494D"/>
                </a:solidFill>
                <a:latin typeface="Montserrat"/>
                <a:ea typeface="Montserrat"/>
                <a:cs typeface="Montserrat"/>
                <a:sym typeface="Montserrat"/>
              </a:rPr>
              <a:t>In recognition of your role as a Founding Member in helping</a:t>
            </a:r>
          </a:p>
          <a:p>
            <a:pPr algn="ctr">
              <a:lnSpc>
                <a:spcPts val="1858"/>
              </a:lnSpc>
            </a:pPr>
            <a:r>
              <a:rPr lang="en-US" sz="1327">
                <a:solidFill>
                  <a:srgbClr val="49494D"/>
                </a:solidFill>
                <a:latin typeface="Montserrat"/>
                <a:ea typeface="Montserrat"/>
                <a:cs typeface="Montserrat"/>
                <a:sym typeface="Montserrat"/>
              </a:rPr>
              <a:t>activate the UScension Veteran Peer Respite &amp; Housing initiative.</a:t>
            </a:r>
          </a:p>
          <a:p>
            <a:pPr algn="ctr">
              <a:lnSpc>
                <a:spcPts val="1858"/>
              </a:lnSpc>
            </a:pPr>
            <a:endParaRPr lang="en-US" sz="1327">
              <a:solidFill>
                <a:srgbClr val="4949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1858"/>
              </a:lnSpc>
            </a:pPr>
            <a:r>
              <a:rPr lang="en-US" sz="1327">
                <a:solidFill>
                  <a:srgbClr val="49494D"/>
                </a:solidFill>
                <a:latin typeface="Montserrat"/>
                <a:ea typeface="Montserrat"/>
                <a:cs typeface="Montserrat"/>
                <a:sym typeface="Montserrat"/>
              </a:rPr>
              <a:t>Your support has helped establish a new pathway for veterans</a:t>
            </a:r>
          </a:p>
          <a:p>
            <a:pPr algn="ctr">
              <a:lnSpc>
                <a:spcPts val="1858"/>
              </a:lnSpc>
            </a:pPr>
            <a:r>
              <a:rPr lang="en-US" sz="1327">
                <a:solidFill>
                  <a:srgbClr val="49494D"/>
                </a:solidFill>
                <a:latin typeface="Montserrat"/>
                <a:ea typeface="Montserrat"/>
                <a:cs typeface="Montserrat"/>
                <a:sym typeface="Montserrat"/>
              </a:rPr>
              <a:t>moving from crisis to housing, care, and community.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31859" y="7112826"/>
            <a:ext cx="1996320" cy="183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4"/>
              </a:lnSpc>
            </a:pPr>
            <a:r>
              <a:rPr lang="en-US" sz="1024">
                <a:solidFill>
                  <a:srgbClr val="49494D"/>
                </a:solidFill>
                <a:latin typeface="Montserrat"/>
                <a:ea typeface="Montserrat"/>
                <a:cs typeface="Montserrat"/>
                <a:sym typeface="Montserrat"/>
              </a:rPr>
              <a:t>Founder / Executive Director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27491" y="6267098"/>
            <a:ext cx="1996320" cy="63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4"/>
              </a:lnSpc>
            </a:pPr>
            <a:r>
              <a:rPr lang="en-US" sz="3724" dirty="0">
                <a:solidFill>
                  <a:srgbClr val="49494D"/>
                </a:solidFill>
                <a:latin typeface="Signature"/>
                <a:ea typeface="Signature"/>
                <a:cs typeface="Signature"/>
                <a:sym typeface="Signature"/>
              </a:rPr>
              <a:t>Brandy Gray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13643" y="6877345"/>
            <a:ext cx="1424016" cy="20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224" b="1">
                <a:solidFill>
                  <a:srgbClr val="4949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Brandy Gray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38360" y="6202974"/>
            <a:ext cx="1424016" cy="20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224" b="1">
                <a:solidFill>
                  <a:srgbClr val="4949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Date :  04-03-26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94860" y="3385375"/>
            <a:ext cx="7671362" cy="1011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74"/>
              </a:lnSpc>
            </a:pPr>
            <a:r>
              <a:rPr lang="en-US" sz="5910">
                <a:solidFill>
                  <a:srgbClr val="A27430"/>
                </a:solidFill>
                <a:latin typeface="Great Vibes"/>
                <a:ea typeface="Great Vibes"/>
                <a:cs typeface="Great Vibes"/>
                <a:sym typeface="Great Vibes"/>
              </a:rPr>
              <a:t>Full 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79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Montserrat</vt:lpstr>
      <vt:lpstr>Signature</vt:lpstr>
      <vt:lpstr>Calibri</vt:lpstr>
      <vt:lpstr>Great Vibes</vt:lpstr>
      <vt:lpstr>Montserrat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OF RECOGNITION</dc:title>
  <cp:lastModifiedBy>RavinderPal Gomez</cp:lastModifiedBy>
  <cp:revision>1</cp:revision>
  <dcterms:created xsi:type="dcterms:W3CDTF">2006-08-16T00:00:00Z</dcterms:created>
  <dcterms:modified xsi:type="dcterms:W3CDTF">2026-04-21T16:21:12Z</dcterms:modified>
  <dc:identifier>DAHG_JEDvPM</dc:identifier>
</cp:coreProperties>
</file>